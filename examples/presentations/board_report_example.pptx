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1554889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2520000"/>
            <a:ext cx="72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Endor Energia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720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Reunião do Conselho — Resultados Q1/2026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0083CA"/>
                </a:solidFill>
                <a:latin typeface="Calibri"/>
              </a:rPr>
              <a:t>Abril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PERÍODO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Jan–Mar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0" y="576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BABFCC"/>
                </a:solidFill>
                <a:latin typeface="Calibri"/>
              </a:rPr>
              <a:t>PRÓXIMA REUNIÃO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0000" y="590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Calibri"/>
              </a:rPr>
              <a:t>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1. Resultados Consolidados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Indicadores financeiros — YTD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RECEITA YTD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R$ 28,4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+21% vs Q1/2025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302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3029" y="2520000"/>
            <a:ext cx="2553029" cy="90000"/>
          </a:xfrm>
          <a:prstGeom prst="rect">
            <a:avLst/>
          </a:prstGeom>
          <a:solidFill>
            <a:srgbClr val="007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702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EBITDA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02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32,1%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02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+3,4 p.p.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5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59" y="2520000"/>
            <a:ext cx="2553029" cy="90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05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CAIXA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05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R$ 47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05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+18% YoY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909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909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09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ROIC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09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14,2%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09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vs 12,8% Q1/25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3 de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Trajetória de receita 2022–2026e</a:t>
            </a:r>
          </a:p>
        </p:txBody>
      </p:sp>
      <p:pic>
        <p:nvPicPr>
          <p:cNvPr id="5" name="Picture 4" descr="board_rece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309" y="1800000"/>
            <a:ext cx="7465500" cy="41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3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Inclui projeção 2026 baseada em pipeline contratado. CAGR 2022–2025: 28,5%.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4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2. Operacional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Operação consolidada Q1/2026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ATENDIMENTOS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939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+8% QoQ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302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3029" y="2520000"/>
            <a:ext cx="2553029" cy="90000"/>
          </a:xfrm>
          <a:prstGeom prst="rect">
            <a:avLst/>
          </a:prstGeom>
          <a:solidFill>
            <a:srgbClr val="007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702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SLA NO 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02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98,7%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02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meta: ≥95%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5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59" y="2520000"/>
            <a:ext cx="2553029" cy="90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05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% 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05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94,2%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05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+2,1 p.p.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909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909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09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CONSUMO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09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1A5C"/>
                </a:solidFill>
                <a:latin typeface="Calibri"/>
              </a:rPr>
              <a:t>612 MWh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09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−4,8% vs Q4/25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6 de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Atendimentos por concessionária</a:t>
            </a:r>
          </a:p>
        </p:txBody>
      </p:sp>
      <p:pic>
        <p:nvPicPr>
          <p:cNvPr id="5" name="Picture 4" descr="board_atendi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809" y="1800000"/>
            <a:ext cx="8410500" cy="41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3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Luz Imperial mantém volume mais alto — base instalada maior. Crescimento consistente nos três contratos.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7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3. Próximos Passos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Pipeline e prioridades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Conclusão da modernização LED em Vassouras até Set/26 (96,5% → 100%)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Participação em 2 novos editais de PPP (Sudeste) — decisão Q3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Estruturação de submarca Endor Geração Distribuída para portfólio FV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Captação Série B em discussão preliminar — Q4 alvo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9 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059" y="1260000"/>
            <a:ext cx="1943611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060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95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83CA"/>
                </a:solidFill>
                <a:latin typeface="Calibri"/>
              </a:rPr>
              <a:t>ri@endor.energia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