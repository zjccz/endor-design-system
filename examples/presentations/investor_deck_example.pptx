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6059" cy="144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59" y="0"/>
            <a:ext cx="6096059" cy="144000"/>
          </a:xfrm>
          <a:prstGeom prst="rect">
            <a:avLst/>
          </a:prstGeom>
          <a:solidFill>
            <a:srgbClr val="6C3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720000"/>
            <a:ext cx="1554889" cy="86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0000" y="2520000"/>
            <a:ext cx="7200000" cy="1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000" b="1">
                <a:solidFill>
                  <a:srgbClr val="FFFFFF"/>
                </a:solidFill>
                <a:latin typeface="Calibri"/>
              </a:rPr>
              <a:t>Endor Energia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4500000"/>
            <a:ext cx="7200000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Calibri"/>
              </a:rPr>
              <a:t>Investor Update — Q1/2026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5220000"/>
            <a:ext cx="54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0083CA"/>
                </a:solidFill>
                <a:latin typeface="Calibri"/>
              </a:rPr>
              <a:t>Abril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6059" cy="144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59" y="0"/>
            <a:ext cx="6096059" cy="144000"/>
          </a:xfrm>
          <a:prstGeom prst="rect">
            <a:avLst/>
          </a:prstGeom>
          <a:solidFill>
            <a:srgbClr val="6C3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2119" y="5778000"/>
            <a:ext cx="1036593" cy="57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0000" y="1800000"/>
            <a:ext cx="3600000" cy="21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0" b="1">
                <a:solidFill>
                  <a:srgbClr val="0083CA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4140000"/>
            <a:ext cx="10080000" cy="1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000" b="1">
                <a:solidFill>
                  <a:srgbClr val="FFFFFF"/>
                </a:solidFill>
                <a:latin typeface="Calibri"/>
              </a:rPr>
              <a:t>Quem somos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24000"/>
            <a:ext cx="907017" cy="503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1080000"/>
            <a:ext cx="10752119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0A1A5C"/>
                </a:solidFill>
                <a:latin typeface="Calibri"/>
              </a:rPr>
              <a:t>Endor Energia em 30 segundos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655999"/>
            <a:ext cx="10752119" cy="448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3D414C"/>
                </a:solidFill>
                <a:latin typeface="Calibri"/>
              </a:rPr>
              <a:t>•  Concessionária de iluminação pública especializada em PPPs municipais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3D414C"/>
                </a:solidFill>
                <a:latin typeface="Calibri"/>
              </a:rPr>
              <a:t>•  3 concessões ativas no Sul Fluminense — 25.870 pontos sob operação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3D414C"/>
                </a:solidFill>
                <a:latin typeface="Calibri"/>
              </a:rPr>
              <a:t>•  94,2% do parque modernizado em tecnologia LED (vs. 78% benchmark setorial)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3D414C"/>
                </a:solidFill>
                <a:latin typeface="Calibri"/>
              </a:rPr>
              <a:t>•  Atende 320 mil habitantes em 3 municípios da região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3D414C"/>
                </a:solidFill>
                <a:latin typeface="Calibri"/>
              </a:rPr>
              <a:t>•  Tração: receita 5,1× em 4 anos. EBITDA margin de 32% no Q1/26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2119" y="6426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858A9E"/>
                </a:solidFill>
                <a:latin typeface="Calibri"/>
              </a:rPr>
              <a:t>Página 3 de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6426000"/>
            <a:ext cx="36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858A9E"/>
                </a:solidFill>
                <a:latin typeface="Calibri"/>
              </a:rPr>
              <a:t>Endor Energia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6059" cy="144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59" y="0"/>
            <a:ext cx="6096059" cy="144000"/>
          </a:xfrm>
          <a:prstGeom prst="rect">
            <a:avLst/>
          </a:prstGeom>
          <a:solidFill>
            <a:srgbClr val="6C3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2119" y="5778000"/>
            <a:ext cx="1036593" cy="57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0000" y="1800000"/>
            <a:ext cx="3600000" cy="21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0" b="1">
                <a:solidFill>
                  <a:srgbClr val="0083CA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4140000"/>
            <a:ext cx="10080000" cy="1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000" b="1">
                <a:solidFill>
                  <a:srgbClr val="FFFFFF"/>
                </a:solidFill>
                <a:latin typeface="Calibri"/>
              </a:rPr>
              <a:t>Mercado e Tração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24000"/>
            <a:ext cx="907017" cy="503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1080000"/>
            <a:ext cx="10752119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0A1A5C"/>
                </a:solidFill>
                <a:latin typeface="Calibri"/>
              </a:rPr>
              <a:t>Tamanho de mercado endereçável</a:t>
            </a:r>
          </a:p>
        </p:txBody>
      </p:sp>
      <p:pic>
        <p:nvPicPr>
          <p:cNvPr id="5" name="Picture 4" descr="investor_mar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3309" y="1800000"/>
            <a:ext cx="7465500" cy="41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0000" y="6138000"/>
            <a:ext cx="10752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0"/>
                </a:solidFill>
                <a:latin typeface="Calibri"/>
              </a:rPr>
              <a:t>Apenas SE+S movimenta R$ 11,9 bi/ano em IP. Penetração de PPPs &lt;15% — runway significativo.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2119" y="6426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858A9E"/>
                </a:solidFill>
                <a:latin typeface="Calibri"/>
              </a:rPr>
              <a:t>Página 5 de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6426000"/>
            <a:ext cx="36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858A9E"/>
                </a:solidFill>
                <a:latin typeface="Calibri"/>
              </a:rPr>
              <a:t>Endor Energia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24000"/>
            <a:ext cx="907017" cy="503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1080000"/>
            <a:ext cx="10752119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0A1A5C"/>
                </a:solidFill>
                <a:latin typeface="Calibri"/>
              </a:rPr>
              <a:t>Indicadores Q1/2026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2520000"/>
            <a:ext cx="2553029" cy="2160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0000" y="2520000"/>
            <a:ext cx="2553029" cy="90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000" y="2736000"/>
            <a:ext cx="226503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B7080"/>
                </a:solidFill>
                <a:latin typeface="Calibri"/>
              </a:rPr>
              <a:t>RECEITA ANUAL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000" y="3060000"/>
            <a:ext cx="226503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0A1A5C"/>
                </a:solidFill>
                <a:latin typeface="Calibri"/>
              </a:rPr>
              <a:t>R$ 108 MM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000" y="4175999"/>
            <a:ext cx="226503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0"/>
                </a:solidFill>
                <a:latin typeface="Calibri"/>
              </a:rPr>
              <a:t>ann. Q1×4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3029" y="2520000"/>
            <a:ext cx="2553029" cy="2160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3029" y="2520000"/>
            <a:ext cx="2553029" cy="90000"/>
          </a:xfrm>
          <a:prstGeom prst="rect">
            <a:avLst/>
          </a:prstGeom>
          <a:solidFill>
            <a:srgbClr val="007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7029" y="2736000"/>
            <a:ext cx="226503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B7080"/>
                </a:solidFill>
                <a:latin typeface="Calibri"/>
              </a:rPr>
              <a:t>EBITDA MARGIN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7029" y="3060000"/>
            <a:ext cx="226503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0A1A5C"/>
                </a:solidFill>
                <a:latin typeface="Calibri"/>
              </a:rPr>
              <a:t>32,1%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7029" y="4175999"/>
            <a:ext cx="226503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0"/>
                </a:solidFill>
                <a:latin typeface="Calibri"/>
              </a:rPr>
              <a:t>vs 28,7% Q1/25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6059" y="2520000"/>
            <a:ext cx="2553029" cy="2160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6059" y="2520000"/>
            <a:ext cx="2553029" cy="90000"/>
          </a:xfrm>
          <a:prstGeom prst="rect">
            <a:avLst/>
          </a:prstGeom>
          <a:solidFill>
            <a:srgbClr val="6C3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0059" y="2736000"/>
            <a:ext cx="226503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B7080"/>
                </a:solidFill>
                <a:latin typeface="Calibri"/>
              </a:rPr>
              <a:t>CONCESSÕES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0059" y="3060000"/>
            <a:ext cx="226503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0A1A5C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0059" y="4175999"/>
            <a:ext cx="226503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0"/>
                </a:solidFill>
                <a:latin typeface="Calibri"/>
              </a:rPr>
              <a:t>+2 em pipeline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9090" y="2520000"/>
            <a:ext cx="2553029" cy="2160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19090" y="2520000"/>
            <a:ext cx="2553029" cy="90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63090" y="2736000"/>
            <a:ext cx="226503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B7080"/>
                </a:solidFill>
                <a:latin typeface="Calibri"/>
              </a:rPr>
              <a:t>HABITANTES ATENDIDOS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63090" y="3060000"/>
            <a:ext cx="226503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0A1A5C"/>
                </a:solidFill>
                <a:latin typeface="Calibri"/>
              </a:rPr>
              <a:t>320k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3090" y="4175999"/>
            <a:ext cx="226503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0"/>
                </a:solidFill>
                <a:latin typeface="Calibri"/>
              </a:rPr>
              <a:t>via 25.870 pontos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52119" y="6426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858A9E"/>
                </a:solidFill>
                <a:latin typeface="Calibri"/>
              </a:rPr>
              <a:t>Página 6 de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6426000"/>
            <a:ext cx="36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858A9E"/>
                </a:solidFill>
                <a:latin typeface="Calibri"/>
              </a:rPr>
              <a:t>Endor Energia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24000"/>
            <a:ext cx="907017" cy="503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1080000"/>
            <a:ext cx="10752119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0A1A5C"/>
                </a:solidFill>
                <a:latin typeface="Calibri"/>
              </a:rPr>
              <a:t>Trajetória de crescimento</a:t>
            </a:r>
          </a:p>
        </p:txBody>
      </p:sp>
      <p:pic>
        <p:nvPicPr>
          <p:cNvPr id="5" name="Picture 4" descr="investor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3309" y="1800000"/>
            <a:ext cx="7465500" cy="41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0000" y="6138000"/>
            <a:ext cx="10752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0"/>
                </a:solidFill>
                <a:latin typeface="Calibri"/>
              </a:rPr>
              <a:t>CAGR 2022–2025: 28,5%. Projeção 2026e considera duas concessões em pipeline com decisão Q3.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2119" y="6426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858A9E"/>
                </a:solidFill>
                <a:latin typeface="Calibri"/>
              </a:rPr>
              <a:t>Página 7 de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6426000"/>
            <a:ext cx="36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858A9E"/>
                </a:solidFill>
                <a:latin typeface="Calibri"/>
              </a:rPr>
              <a:t>Endor Energia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6059" cy="144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59" y="0"/>
            <a:ext cx="6096059" cy="144000"/>
          </a:xfrm>
          <a:prstGeom prst="rect">
            <a:avLst/>
          </a:prstGeom>
          <a:solidFill>
            <a:srgbClr val="6C3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2119" y="5778000"/>
            <a:ext cx="1036593" cy="57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0000" y="1800000"/>
            <a:ext cx="3600000" cy="21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0" b="1">
                <a:solidFill>
                  <a:srgbClr val="0083CA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4140000"/>
            <a:ext cx="10080000" cy="1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000" b="1">
                <a:solidFill>
                  <a:srgbClr val="FFFFFF"/>
                </a:solidFill>
                <a:latin typeface="Calibri"/>
              </a:rPr>
              <a:t>Próximos passos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8000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24000"/>
            <a:ext cx="907017" cy="503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1080000"/>
            <a:ext cx="10752119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0A1A5C"/>
                </a:solidFill>
                <a:latin typeface="Calibri"/>
              </a:rPr>
              <a:t>O que estamos buscando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655999"/>
            <a:ext cx="10752119" cy="448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3D414C"/>
                </a:solidFill>
                <a:latin typeface="Calibri"/>
              </a:rPr>
              <a:t>•  Captação Série B — R$ 80–120 MM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3D414C"/>
                </a:solidFill>
                <a:latin typeface="Calibri"/>
              </a:rPr>
              <a:t>•  Uso: aquisição de 2–3 concessões adicionais + CAPEX de modernização LED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3D414C"/>
                </a:solidFill>
                <a:latin typeface="Calibri"/>
              </a:rPr>
              <a:t>•  Timeline: due diligence Q2–Q3, fechamento Q4/2026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3D414C"/>
                </a:solidFill>
                <a:latin typeface="Calibri"/>
              </a:rPr>
              <a:t>•  Métricas-alvo 2028: receita R$ 250 MM, EBITDA margin &gt;35%, 7 concessões ativas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2119" y="6426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858A9E"/>
                </a:solidFill>
                <a:latin typeface="Calibri"/>
              </a:rPr>
              <a:t>Página 9 de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6426000"/>
            <a:ext cx="36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858A9E"/>
                </a:solidFill>
                <a:latin typeface="Calibri"/>
              </a:rPr>
              <a:t>Endor Energia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ndor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6059" y="1260000"/>
            <a:ext cx="1943611" cy="108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" y="3060000"/>
            <a:ext cx="10752119" cy="14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Calibri"/>
              </a:rPr>
              <a:t>Obrigado.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5958000"/>
            <a:ext cx="1075211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0083CA"/>
                </a:solidFill>
                <a:latin typeface="Calibri"/>
              </a:rPr>
              <a:t>ri@endor.energia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