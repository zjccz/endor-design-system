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6059" cy="144000"/>
          </a:xfrm>
          <a:prstGeom prst="rect">
            <a:avLst/>
          </a:prstGeom>
          <a:solidFill>
            <a:srgbClr val="008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59" y="0"/>
            <a:ext cx="6096059" cy="144000"/>
          </a:xfrm>
          <a:prstGeom prst="rect">
            <a:avLst/>
          </a:prstGeom>
          <a:solidFill>
            <a:srgbClr val="6C3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ndorEnerg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720000"/>
            <a:ext cx="1554889" cy="864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0000" y="2520000"/>
            <a:ext cx="7200000" cy="1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000" b="1">
                <a:solidFill>
                  <a:srgbClr val="FFFFFF"/>
                </a:solidFill>
                <a:latin typeface="Calibri"/>
              </a:rPr>
              <a:t>[Relatório de Atividades]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4500000"/>
            <a:ext cx="7200000" cy="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>
                <a:solidFill>
                  <a:srgbClr val="FFFFFF"/>
                </a:solidFill>
                <a:latin typeface="Calibri"/>
              </a:rPr>
              <a:t>[Período: Mês/Ano]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5220000"/>
            <a:ext cx="540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0083CA"/>
                </a:solidFill>
                <a:latin typeface="Calibri"/>
              </a:rPr>
              <a:t>[Mês/Ano]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760000"/>
            <a:ext cx="2880000" cy="1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BABFCC"/>
                </a:solidFill>
                <a:latin typeface="Calibri"/>
              </a:rPr>
              <a:t>CONTRATO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5904000"/>
            <a:ext cx="288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FFFFFF"/>
                </a:solidFill>
                <a:latin typeface="Calibri"/>
              </a:rPr>
              <a:t>[N° XX/AAAA]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80000" y="5760000"/>
            <a:ext cx="2880000" cy="1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BABFCC"/>
                </a:solidFill>
                <a:latin typeface="Calibri"/>
              </a:rPr>
              <a:t>EMISSÃO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80000" y="5904000"/>
            <a:ext cx="288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FFFFFF"/>
                </a:solidFill>
                <a:latin typeface="Calibri"/>
              </a:rPr>
              <a:t>[Mês AAAA]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40000" y="5760000"/>
            <a:ext cx="2880000" cy="1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BABFCC"/>
                </a:solidFill>
                <a:latin typeface="Calibri"/>
              </a:rPr>
              <a:t>DESTINATÁRIO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40000" y="5904000"/>
            <a:ext cx="288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FFFFFF"/>
                </a:solidFill>
                <a:latin typeface="Calibri"/>
              </a:rPr>
              <a:t>[Poder Concedente]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6059" cy="144000"/>
          </a:xfrm>
          <a:prstGeom prst="rect">
            <a:avLst/>
          </a:prstGeom>
          <a:solidFill>
            <a:srgbClr val="008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59" y="0"/>
            <a:ext cx="6096059" cy="144000"/>
          </a:xfrm>
          <a:prstGeom prst="rect">
            <a:avLst/>
          </a:prstGeom>
          <a:solidFill>
            <a:srgbClr val="6C3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ndorEnerg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2119" y="5778000"/>
            <a:ext cx="1036593" cy="57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0000" y="1800000"/>
            <a:ext cx="3600000" cy="21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0" b="1">
                <a:solidFill>
                  <a:srgbClr val="0083CA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4140000"/>
            <a:ext cx="10080000" cy="10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000" b="1">
                <a:solidFill>
                  <a:srgbClr val="FFFFFF"/>
                </a:solidFill>
                <a:latin typeface="Calibri"/>
              </a:rPr>
              <a:t>Sumário Executivo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8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ndorEnerg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324000"/>
            <a:ext cx="907017" cy="5039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0000" y="1080000"/>
            <a:ext cx="10752119" cy="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0A1A5C"/>
                </a:solidFill>
                <a:latin typeface="Calibri"/>
              </a:rPr>
              <a:t>Visão geral do período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2520000"/>
            <a:ext cx="2553029" cy="2160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20000" y="2520000"/>
            <a:ext cx="2553029" cy="90000"/>
          </a:xfrm>
          <a:prstGeom prst="rect">
            <a:avLst/>
          </a:prstGeom>
          <a:solidFill>
            <a:srgbClr val="008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000" y="2736000"/>
            <a:ext cx="226503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6B7080"/>
                </a:solidFill>
                <a:latin typeface="Calibri"/>
              </a:rPr>
              <a:t>ATENDIMENTOS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000" y="3060000"/>
            <a:ext cx="2265030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600" b="1">
                <a:solidFill>
                  <a:srgbClr val="0A1A5C"/>
                </a:solidFill>
                <a:latin typeface="Calibri"/>
              </a:rPr>
              <a:t>[NNN]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000" y="4175999"/>
            <a:ext cx="226503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0"/>
                </a:solidFill>
                <a:latin typeface="Calibri"/>
              </a:rPr>
              <a:t>em campo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53029" y="2520000"/>
            <a:ext cx="2553029" cy="2160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3029" y="2520000"/>
            <a:ext cx="2553029" cy="90000"/>
          </a:xfrm>
          <a:prstGeom prst="rect">
            <a:avLst/>
          </a:prstGeom>
          <a:solidFill>
            <a:srgbClr val="6C3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7029" y="2736000"/>
            <a:ext cx="226503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6B7080"/>
                </a:solidFill>
                <a:latin typeface="Calibri"/>
              </a:rPr>
              <a:t>SOLICITAÇÕES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7029" y="3060000"/>
            <a:ext cx="2265030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600" b="1">
                <a:solidFill>
                  <a:srgbClr val="0A1A5C"/>
                </a:solidFill>
                <a:latin typeface="Calibri"/>
              </a:rPr>
              <a:t>[NN]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7029" y="4175999"/>
            <a:ext cx="226503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0"/>
                </a:solidFill>
                <a:latin typeface="Calibri"/>
              </a:rPr>
              <a:t>abertas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6059" y="2520000"/>
            <a:ext cx="2553029" cy="2160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6059" y="2520000"/>
            <a:ext cx="2553029" cy="90000"/>
          </a:xfrm>
          <a:prstGeom prst="rect">
            <a:avLst/>
          </a:prstGeom>
          <a:solidFill>
            <a:srgbClr val="0071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30059" y="2736000"/>
            <a:ext cx="226503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6B7080"/>
                </a:solidFill>
                <a:latin typeface="Calibri"/>
              </a:rPr>
              <a:t>SLA NO PRAZO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0059" y="3060000"/>
            <a:ext cx="2265030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600" b="1">
                <a:solidFill>
                  <a:srgbClr val="0A1A5C"/>
                </a:solidFill>
                <a:latin typeface="Calibri"/>
              </a:rPr>
              <a:t>[XX%]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0059" y="4175999"/>
            <a:ext cx="226503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0"/>
                </a:solidFill>
                <a:latin typeface="Calibri"/>
              </a:rPr>
              <a:t>em atraso: [Y%]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19090" y="2520000"/>
            <a:ext cx="2553029" cy="2160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19090" y="2520000"/>
            <a:ext cx="2553029" cy="90000"/>
          </a:xfrm>
          <a:prstGeom prst="rect">
            <a:avLst/>
          </a:prstGeom>
          <a:solidFill>
            <a:srgbClr val="008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63090" y="2736000"/>
            <a:ext cx="226503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6B7080"/>
                </a:solidFill>
                <a:latin typeface="Calibri"/>
              </a:rPr>
              <a:t>CONSUMO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63090" y="3060000"/>
            <a:ext cx="2265030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0A1A5C"/>
                </a:solidFill>
                <a:latin typeface="Calibri"/>
              </a:rPr>
              <a:t>[XXX MWh]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63090" y="4175999"/>
            <a:ext cx="226503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0"/>
                </a:solidFill>
                <a:latin typeface="Calibri"/>
              </a:rPr>
              <a:t>[±X%] vs ant.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52119" y="6426000"/>
            <a:ext cx="108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858A9E"/>
                </a:solidFill>
                <a:latin typeface="Calibri"/>
              </a:rPr>
              <a:t>Página 3 de 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000" y="6426000"/>
            <a:ext cx="36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858A9E"/>
                </a:solidFill>
                <a:latin typeface="Calibri"/>
              </a:rPr>
              <a:t>Endor Energia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6059" cy="144000"/>
          </a:xfrm>
          <a:prstGeom prst="rect">
            <a:avLst/>
          </a:prstGeom>
          <a:solidFill>
            <a:srgbClr val="008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59" y="0"/>
            <a:ext cx="6096059" cy="144000"/>
          </a:xfrm>
          <a:prstGeom prst="rect">
            <a:avLst/>
          </a:prstGeom>
          <a:solidFill>
            <a:srgbClr val="6C3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ndorEnerg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2119" y="5778000"/>
            <a:ext cx="1036593" cy="57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0000" y="1800000"/>
            <a:ext cx="3600000" cy="21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0" b="1">
                <a:solidFill>
                  <a:srgbClr val="0083CA"/>
                </a:solidFill>
                <a:latin typeface="Calibr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4140000"/>
            <a:ext cx="10080000" cy="10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000" b="1">
                <a:solidFill>
                  <a:srgbClr val="FFFFFF"/>
                </a:solidFill>
                <a:latin typeface="Calibri"/>
              </a:rPr>
              <a:t>Indicadores Operacionais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8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ndorEnerg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324000"/>
            <a:ext cx="907017" cy="5039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0000" y="1080000"/>
            <a:ext cx="10752119" cy="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0A1A5C"/>
                </a:solidFill>
                <a:latin typeface="Calibri"/>
              </a:rPr>
              <a:t>[Tópico operacional 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655999"/>
            <a:ext cx="10752119" cy="448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>
                <a:solidFill>
                  <a:srgbClr val="3D414C"/>
                </a:solidFill>
                <a:latin typeface="Calibri"/>
              </a:rPr>
              <a:t>•  [Fato 1]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3D414C"/>
                </a:solidFill>
                <a:latin typeface="Calibri"/>
              </a:rPr>
              <a:t>•  [Fato 2]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3D414C"/>
                </a:solidFill>
                <a:latin typeface="Calibri"/>
              </a:rPr>
              <a:t>•  [Fato 3]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52119" y="6426000"/>
            <a:ext cx="108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858A9E"/>
                </a:solidFill>
                <a:latin typeface="Calibri"/>
              </a:rPr>
              <a:t>Página 5 de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6426000"/>
            <a:ext cx="36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858A9E"/>
                </a:solidFill>
                <a:latin typeface="Calibri"/>
              </a:rPr>
              <a:t>Endor Energia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8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ndorEnerg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324000"/>
            <a:ext cx="907017" cy="5039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0000" y="1080000"/>
            <a:ext cx="10752119" cy="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0A1A5C"/>
                </a:solidFill>
                <a:latin typeface="Calibri"/>
              </a:rPr>
              <a:t>[Tópico operacional 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655999"/>
            <a:ext cx="10752119" cy="448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>
                <a:solidFill>
                  <a:srgbClr val="3D414C"/>
                </a:solidFill>
                <a:latin typeface="Calibri"/>
              </a:rPr>
              <a:t>•  [Análise]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3D414C"/>
                </a:solidFill>
                <a:latin typeface="Calibri"/>
              </a:rPr>
              <a:t>•  [Causa raiz]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3D414C"/>
                </a:solidFill>
                <a:latin typeface="Calibri"/>
              </a:rPr>
              <a:t>•  [Ação corretiva]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52119" y="6426000"/>
            <a:ext cx="108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858A9E"/>
                </a:solidFill>
                <a:latin typeface="Calibri"/>
              </a:rPr>
              <a:t>Página 6 de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6426000"/>
            <a:ext cx="36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858A9E"/>
                </a:solidFill>
                <a:latin typeface="Calibri"/>
              </a:rPr>
              <a:t>Endor Energia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6059" cy="144000"/>
          </a:xfrm>
          <a:prstGeom prst="rect">
            <a:avLst/>
          </a:prstGeom>
          <a:solidFill>
            <a:srgbClr val="008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59" y="0"/>
            <a:ext cx="6096059" cy="144000"/>
          </a:xfrm>
          <a:prstGeom prst="rect">
            <a:avLst/>
          </a:prstGeom>
          <a:solidFill>
            <a:srgbClr val="6C3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ndorEnerg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2119" y="5778000"/>
            <a:ext cx="1036593" cy="57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0000" y="1800000"/>
            <a:ext cx="3600000" cy="21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0" b="1">
                <a:solidFill>
                  <a:srgbClr val="0083CA"/>
                </a:solidFill>
                <a:latin typeface="Calibr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4140000"/>
            <a:ext cx="10080000" cy="10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000" b="1">
                <a:solidFill>
                  <a:srgbClr val="FFFFFF"/>
                </a:solidFill>
                <a:latin typeface="Calibri"/>
              </a:rPr>
              <a:t>Encerramento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ndorEnerg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6059" y="1260000"/>
            <a:ext cx="1943611" cy="108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0000" y="3060000"/>
            <a:ext cx="10752119" cy="14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Calibri"/>
              </a:rPr>
              <a:t>[Encerramento]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5958000"/>
            <a:ext cx="10752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0083CA"/>
                </a:solidFill>
                <a:latin typeface="Calibri"/>
              </a:rPr>
              <a:t>[contato@empresa.com.br]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